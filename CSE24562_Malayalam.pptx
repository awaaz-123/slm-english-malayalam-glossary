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SLM FUNDAMENTALS &amp; ARCHITECTURE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How Small Language Model (SLM)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What is a Small Language Model?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A Small Language Model (SLM) is a compact, highly efficient AI neural network designed for natural language understanding and generation.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Typically contains under 10 Billion parameters (e.g. 500M to 3.8B params).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Trained using curated, high-quality domain-specific datasets and synthetic data.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Basic Pipeline: Input Text → Tokenization → Embedding &amp; Transformer Attention → Probability Logits → Output Token Generation.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Learns statistical word, sentence, and semantic relationships without massive compute requirements.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4ADE80"/>
                </a:solidFill>
              </a:defRPr>
            </a:pPr>
            <a:r>
              <a:t>Key Advantages of SLMs</a:t>
            </a:r>
          </a:p>
          <a:p>
            <a:pPr>
              <a:spcBef>
                <a:spcPts val="600"/>
              </a:spcBef>
              <a:defRPr b="1" sz="1300">
                <a:solidFill>
                  <a:srgbClr val="4ADE80"/>
                </a:solidFill>
              </a:defRPr>
            </a:pPr>
            <a:r>
              <a:t>✔ Ultra-Low Latency &amp; High Speed: 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Generates responses in milliseconds due to small parameter footprint.</a:t>
            </a:r>
          </a:p>
          <a:p>
            <a:pPr>
              <a:spcBef>
                <a:spcPts val="600"/>
              </a:spcBef>
              <a:defRPr b="1" sz="1300">
                <a:solidFill>
                  <a:srgbClr val="4ADE80"/>
                </a:solidFill>
              </a:defRPr>
            </a:pPr>
            <a:r>
              <a:t>✔ Low Memory &amp; Hardware Requirements: 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Can run locally on CPUs, edge devices, laptops, and mobile phones without high-end GPUs.</a:t>
            </a:r>
          </a:p>
          <a:p>
            <a:pPr>
              <a:spcBef>
                <a:spcPts val="600"/>
              </a:spcBef>
              <a:defRPr b="1" sz="1300">
                <a:solidFill>
                  <a:srgbClr val="4ADE80"/>
                </a:solidFill>
              </a:defRPr>
            </a:pPr>
            <a:r>
              <a:t>✔ Cost-Efficient: 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Drastically reduces cloud API inference costs and carbon footprint.</a:t>
            </a:r>
          </a:p>
          <a:p>
            <a:pPr>
              <a:spcBef>
                <a:spcPts val="600"/>
              </a:spcBef>
              <a:defRPr b="1" sz="1300">
                <a:solidFill>
                  <a:srgbClr val="4ADE80"/>
                </a:solidFill>
              </a:defRPr>
            </a:pPr>
            <a:r>
              <a:t>✔ Enhanced Privacy &amp; Data Security: 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Processes sensitive technical data locally offline without sending information to cloud servers.</a:t>
            </a:r>
          </a:p>
          <a:p>
            <a:pPr>
              <a:spcBef>
                <a:spcPts val="600"/>
              </a:spcBef>
              <a:defRPr b="1" sz="1300">
                <a:solidFill>
                  <a:srgbClr val="4ADE80"/>
                </a:solidFill>
              </a:defRPr>
            </a:pPr>
            <a:r>
              <a:t>✔ Easy Domain Adaptability: 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Quick to fine-tune on domain-specific datasets (e.g. Malayalam translation).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SLM MODEL TAXONOMY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SLM Architectures &amp; Popular SLM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b="1" sz="1400">
                <a:solidFill>
                  <a:srgbClr val="38BDF8"/>
                </a:solidFill>
              </a:defRPr>
            </a:pPr>
            <a:r>
              <a:t>Core SLM Architectures: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1. Decoder-Only (Autoregressive - e.g. Phi-3, Llama 3.2)  |  2. Encoder-Only (Contextual - e.g. MobileBERT)  |  3. Encoder-Decoder (Seq2Seq - e.g. NLLB-200 600M, T5-Small)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56032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40080"/>
                <a:gridCol w="2011680"/>
                <a:gridCol w="1645920"/>
                <a:gridCol w="2011680"/>
                <a:gridCol w="1645920"/>
                <a:gridCol w="1371600"/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Model Name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Characteristics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Companies Using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Products Created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ADE80"/>
                          </a:solidFill>
                        </a:defRPr>
                      </a:pPr>
                      <a:r>
                        <a:t>NLLB-200 Distilled (Used in Project)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600M params, Seq2Seq multilingual translation across 200+ languages including Malayalam.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Meta, Wikimedia Foundation, NLP Researchers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Focused solely on translation; lacks multi-turn conversational reasoning.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Facebook/Insta post translation, Wikipedia translation tool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Encoder-Decoder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Phi-3-mini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3.8B params, state-of-the-art synthetic data training, 128k context window.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Microsoft, Azure AI developers, Healthcare apps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Higher memory than 600M models; slight hallucination on complex math.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Microsoft Copilot local features, Azure AI Edge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Decoder-only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Llama-3.2 (1B/3B)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1B &amp; 3B lightweight params, Qualcomm/MediaTek mobile optimization, text+vision.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Meta, Qualcomm, MediaTek, Edge AI developers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Lower world knowledge capacity than Llama 70B.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Meta AI mobile assistant, On-device edge features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Decoder-only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Gemma-2B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2B params, built from Gemini tech, open weights, safety aligned.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Google, Kaggle community, Android app devs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Limited long-context multi-step reasoning capabilities.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Google AI Edge, Android AICore features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Decoder-only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LARGE LANGUAGE MODEL OVERVIEW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How Large Language Model (LLM)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Understanding Large Language Models (LLMs)</a:t>
            </a:r>
          </a:p>
          <a:p>
            <a:pPr>
              <a:spcBef>
                <a:spcPts val="800"/>
              </a:spcBef>
              <a:defRPr b="1" sz="1400">
                <a:solidFill>
                  <a:srgbClr val="4ADE80"/>
                </a:solidFill>
              </a:defRPr>
            </a:pPr>
            <a:r>
              <a:t>1. Scale &amp; Deep Architecture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LLMs (e.g. GPT-4, Gemini 1.5, Claude 3.5) consist of tens to hundreds of billions of parameters (70B - 1 Trillion+). Built on stacked Transformer blocks with Multi-Head Self-Attention layers.</a:t>
            </a:r>
          </a:p>
          <a:p>
            <a:pPr>
              <a:spcBef>
                <a:spcPts val="800"/>
              </a:spcBef>
              <a:defRPr b="1" sz="1400">
                <a:solidFill>
                  <a:srgbClr val="4ADE80"/>
                </a:solidFill>
              </a:defRPr>
            </a:pPr>
            <a:r>
              <a:t>2. Massive Web-Scale Pre-Training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Trained on trillions of tokens from web crawl datasets, books, code repositories, and scientific literature to learn deep world knowledge and grammar patterns.</a:t>
            </a:r>
          </a:p>
          <a:p>
            <a:pPr>
              <a:spcBef>
                <a:spcPts val="800"/>
              </a:spcBef>
              <a:defRPr b="1" sz="1400">
                <a:solidFill>
                  <a:srgbClr val="4ADE80"/>
                </a:solidFill>
              </a:defRPr>
            </a:pPr>
            <a:r>
              <a:t>3. Training Pipeline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Pre-Training (Next-Token Prediction) → Supervised Fine-Tuning (SFT for instruction following) → Reinforcement Learning from Human Feedback (RLHF / DPO for safety &amp; alignment).</a:t>
            </a:r>
          </a:p>
          <a:p>
            <a:pPr>
              <a:spcBef>
                <a:spcPts val="800"/>
              </a:spcBef>
              <a:defRPr b="1" sz="1400">
                <a:solidFill>
                  <a:srgbClr val="4ADE80"/>
                </a:solidFill>
              </a:defRPr>
            </a:pPr>
            <a:r>
              <a:t>4. Inference &amp; Generation Process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Input Prompt → Tokenization (BPE/WordPiece) → High-dimensional Vector Embedding → Stacked Attention Layers → Softmax Probability Logits → Autoregressive Next-Token Sampling → Output Response.</a:t>
            </a:r>
          </a:p>
          <a:p>
            <a:pPr>
              <a:spcBef>
                <a:spcPts val="800"/>
              </a:spcBef>
              <a:defRPr b="1" sz="1400">
                <a:solidFill>
                  <a:srgbClr val="4ADE80"/>
                </a:solidFill>
              </a:defRPr>
            </a:pPr>
            <a:r>
              <a:t>5. Commercial Examples &amp; Products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ChatGPT (OpenAI), Gemini (Google), Claude (Anthropic), Llama 3.1 405B (Meta).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MODEL ARCHITECTURE COMPARISON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Comparative Analysis: SLM vs LLM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33731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114800"/>
                <a:gridCol w="2674620"/>
              </a:tblGrid>
              <a:tr h="6172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8FAFC"/>
                          </a:solidFill>
                        </a:defRPr>
                      </a:pPr>
                      <a:r>
                        <a:t>Feature / Parameter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8FAFC"/>
                          </a:solidFill>
                        </a:defRPr>
                      </a:pPr>
                      <a:r>
                        <a:t>Small Language Model (SLM)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8FAFC"/>
                          </a:solidFill>
                        </a:defRPr>
                      </a:pPr>
                      <a:r>
                        <a:t>Large Language Model (LLM)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Parameter Size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</a:defRPr>
                      </a:pPr>
                      <a:r>
                        <a:t>Under 10 Billion parameters (e.g. 600M, 1B, 3.8B)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Tens to Hundreds of Billions (70B - 1Trillion+)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Hardware Requirements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</a:defRPr>
                      </a:pPr>
                      <a:r>
                        <a:t>Runs on edge devices, CPU, laptop, or low-cost single GPU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Requires massive multi-GPU / TPU clusters (e.g. 8x H100s)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Inference Latency &amp; Speed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</a:defRPr>
                      </a:pPr>
                      <a:r>
                        <a:t>Ultra-fast response time (milliseconds, real-time)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Higher latency, queue dependent on cloud infrastructure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Training &amp; Operating Cost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</a:defRPr>
                      </a:pPr>
                      <a:r>
                        <a:t>Low cost ($1k - $50k training), minimal operational overhead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Extremely expensive ($1M - $100M+ per model run)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Data Privacy &amp; Security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</a:defRPr>
                      </a:pPr>
                      <a:r>
                        <a:t>Complete local offline processing; zero data leakage risk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Data sent via Cloud API endpoints; risk of telemetry leakage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Domain Adaptability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</a:defRPr>
                      </a:pPr>
                      <a:r>
                        <a:t>Highly agile; easily fine-tuned on custom domain datasets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Generalist capability; complex &amp; costly to fine-tune directly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Best Use Cases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ADE80"/>
                          </a:solidFill>
                        </a:defRPr>
                      </a:pPr>
                      <a:r>
                        <a:t>On-device AI, Machine Translation (e.g. Malayalam), IoT, Privacy NLP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Complex multi-step reasoning, general QA, coding assistants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PRACTICAL IMPLEMENTATION &amp; RUNTIME RESULTS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Glossary Translation: English → Malayalam (SLM Program)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4572000" cy="5120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English to Malayalam SLM Engine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Domain Context: Computer Science, AI &amp; Natural Language Processing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PDF Input: glossary_en.pdf (15 technical terms + definitions)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SLM Model: facebook/nllb-200-distilled-600M (Meta)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Target Language: Malayalam (mal_Mlym)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Key Translation Examples:</a:t>
            </a:r>
          </a:p>
          <a:p>
            <a:pPr>
              <a:defRPr sz="1050" b="1">
                <a:solidFill>
                  <a:srgbClr val="4ADE80"/>
                </a:solidFill>
              </a:defRPr>
            </a:pPr>
            <a:r>
              <a:t>  └ Tokenization → ടോക്കണൈസേഷൻ</a:t>
            </a:r>
          </a:p>
          <a:p>
            <a:pPr>
              <a:defRPr sz="1050" b="1">
                <a:solidFill>
                  <a:srgbClr val="4ADE80"/>
                </a:solidFill>
              </a:defRPr>
            </a:pPr>
            <a:r>
              <a:t>  └ Small Language Model → ചെറിയ ഭാഷാ മാതൃക (SLM)</a:t>
            </a:r>
          </a:p>
          <a:p>
            <a:pPr>
              <a:defRPr sz="1050" b="1">
                <a:solidFill>
                  <a:srgbClr val="4ADE80"/>
                </a:solidFill>
              </a:defRPr>
            </a:pPr>
            <a:r>
              <a:t>  └ Attention Mechanism → അറ്റൻഷൻ മെക്കാനിസം</a:t>
            </a:r>
          </a:p>
          <a:p>
            <a:pPr>
              <a:defRPr sz="1050" b="1">
                <a:solidFill>
                  <a:srgbClr val="4ADE80"/>
                </a:solidFill>
              </a:defRPr>
            </a:pPr>
            <a:r>
              <a:t>  └ Knowledge Distillation → നോളജ് ഡിസ്റ്റിലേഷൻ</a:t>
            </a:r>
          </a:p>
          <a:p>
            <a:pPr>
              <a:defRPr sz="1050" b="1">
                <a:solidFill>
                  <a:srgbClr val="4ADE80"/>
                </a:solidFill>
              </a:defRPr>
            </a:pPr>
            <a:r>
              <a:t>  └ Quantization → ക്വാണ്ടൈസേഷൻ</a:t>
            </a:r>
          </a:p>
        </p:txBody>
      </p:sp>
      <p:pic>
        <p:nvPicPr>
          <p:cNvPr id="4" name="Picture 3" descr="execution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59436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PROJECT REPOSITORY &amp; DELIVERABLES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GitHub Repository &amp; Code Submission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5752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Project GitHub Repository Details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GitHub Repository URL:</a:t>
            </a:r>
          </a:p>
          <a:p>
            <a:pPr>
              <a:spcAft>
                <a:spcPts val="1400"/>
              </a:spcAft>
              <a:defRPr sz="1600" b="1">
                <a:solidFill>
                  <a:srgbClr val="4ADE80"/>
                </a:solidFill>
              </a:defRPr>
            </a:pPr>
            <a:r>
              <a:t>https://github.com/Awaaz-123/slm-english-malayalam-glossary.git</a:t>
            </a:r>
          </a:p>
          <a:p>
            <a:pPr>
              <a:defRPr b="1" sz="1250">
                <a:solidFill>
                  <a:srgbClr val="38BDF8"/>
                </a:solidFill>
              </a:defRPr>
            </a:pPr>
            <a:r>
              <a:t>• Project Name: 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English to Malayalam AI/NLP Glossary Translation using SLM</a:t>
            </a:r>
          </a:p>
          <a:p>
            <a:pPr>
              <a:defRPr b="1" sz="1250">
                <a:solidFill>
                  <a:srgbClr val="38BDF8"/>
                </a:solidFill>
              </a:defRPr>
            </a:pPr>
            <a:r>
              <a:t>• Language &amp; Frameworks: 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Python 3.10+, Meta NLLB-200-distilled-600M, HuggingFace Transformers, PyTorch, PyPDF</a:t>
            </a:r>
          </a:p>
          <a:p>
            <a:pPr>
              <a:defRPr b="1" sz="1250">
                <a:solidFill>
                  <a:srgbClr val="38BDF8"/>
                </a:solidFill>
              </a:defRPr>
            </a:pPr>
            <a:r>
              <a:t>• Key Deliverables: 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1. translate_glossary.py (SLM Translation Script)</a:t>
            </a:r>
            <a:br/>
            <a:r>
              <a:t>2. CSE24562_Malayalam.pptx (6-Slide Presentation Deck)</a:t>
            </a:r>
            <a:br/>
            <a:r>
              <a:t>3. glossary_translation_results.json / .md (Translated Datasets)</a:t>
            </a:r>
            <a:br/>
            <a:r>
              <a:t>4. execution_screenshot.png (Program Execution Proof)</a:t>
            </a:r>
          </a:p>
          <a:p>
            <a:pPr>
              <a:defRPr b="1" sz="1250">
                <a:solidFill>
                  <a:srgbClr val="38BDF8"/>
                </a:solidFill>
              </a:defRPr>
            </a:pPr>
            <a:r>
              <a:t>• Native Language: 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Malayalam (mal_Mlym)</a:t>
            </a:r>
          </a:p>
          <a:p>
            <a:pPr>
              <a:defRPr b="1" sz="1250">
                <a:solidFill>
                  <a:srgbClr val="38BDF8"/>
                </a:solidFill>
              </a:defRPr>
            </a:pPr>
            <a:r>
              <a:t>• Result: 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Successfully parsed English PDF glossary and translated 15 complex technical AI/NLP definitions into Malayalam using a 600M parameter SLM.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